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0" r:id="rId5"/>
    <p:sldId id="261" r:id="rId6"/>
    <p:sldId id="262" r:id="rId7"/>
    <p:sldId id="263" r:id="rId8"/>
    <p:sldId id="264" r:id="rId9"/>
    <p:sldId id="265" r:id="rId10"/>
    <p:sldId id="267" r:id="rId11"/>
    <p:sldId id="289" r:id="rId12"/>
    <p:sldId id="268" r:id="rId13"/>
    <p:sldId id="283" r:id="rId14"/>
    <p:sldId id="271" r:id="rId15"/>
    <p:sldId id="272" r:id="rId16"/>
    <p:sldId id="273" r:id="rId17"/>
    <p:sldId id="274" r:id="rId18"/>
    <p:sldId id="290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98132683378538"/>
          <c:y val="0.117903851137727"/>
          <c:w val="0.918617530321663"/>
          <c:h val="0.66334100400995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Actual In %</c:v>
                </c:pt>
              </c:strCache>
            </c:strRef>
          </c:tx>
          <c:spPr>
            <a:ln w="31750" cap="rnd" cmpd="sng" algn="ctr">
              <a:solidFill>
                <a:schemeClr val="accent1"/>
              </a:solidFill>
              <a:prstDash val="solid"/>
              <a:round/>
              <a:headEnd type="oval" w="med" len="med"/>
              <a:tailEnd type="oval" w="med" len="med"/>
            </a:ln>
          </c:spPr>
          <c:dLbls>
            <c:delete val="1"/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Sheet1!$B$2:$O$2</c:f>
              <c:numCache>
                <c:formatCode>0.000</c:formatCode>
                <c:ptCount val="14"/>
                <c:pt idx="0">
                  <c:v>95.26</c:v>
                </c:pt>
                <c:pt idx="1">
                  <c:v>95</c:v>
                </c:pt>
                <c:pt idx="2" c:formatCode="General">
                  <c:v>95</c:v>
                </c:pt>
                <c:pt idx="3" c:formatCode="General">
                  <c:v>95</c:v>
                </c:pt>
                <c:pt idx="4" c:formatCode="General">
                  <c:v>95</c:v>
                </c:pt>
                <c:pt idx="5" c:formatCode="General">
                  <c:v>95</c:v>
                </c:pt>
                <c:pt idx="6" c:formatCode="General">
                  <c:v>95</c:v>
                </c:pt>
                <c:pt idx="7" c:formatCode="General">
                  <c:v>95</c:v>
                </c:pt>
                <c:pt idx="8" c:formatCode="General">
                  <c:v>95</c:v>
                </c:pt>
                <c:pt idx="9" c:formatCode="General">
                  <c:v>95</c:v>
                </c:pt>
                <c:pt idx="10" c:formatCode="General">
                  <c:v>95</c:v>
                </c:pt>
                <c:pt idx="11" c:formatCode="General">
                  <c:v>95</c:v>
                </c:pt>
                <c:pt idx="12" c:formatCode="General">
                  <c:v>95</c:v>
                </c:pt>
                <c:pt idx="13" c:formatCode="General">
                  <c:v>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Actual In %</c:v>
                </c:pt>
              </c:strCache>
            </c:strRef>
          </c:tx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Sheet1!$B$3:$O$3</c:f>
              <c:numCache>
                <c:formatCode>0.000</c:formatCode>
                <c:ptCount val="14"/>
                <c:pt idx="0">
                  <c:v>95.26</c:v>
                </c:pt>
                <c:pt idx="1">
                  <c:v>83.529</c:v>
                </c:pt>
                <c:pt idx="2" c:formatCode="General">
                  <c:v>52.59</c:v>
                </c:pt>
                <c:pt idx="3" c:formatCode="General">
                  <c:v>78</c:v>
                </c:pt>
                <c:pt idx="4" c:formatCode="General">
                  <c:v>67.23</c:v>
                </c:pt>
                <c:pt idx="5" c:formatCode="General">
                  <c:v>95.07</c:v>
                </c:pt>
                <c:pt idx="6" c:formatCode="General">
                  <c:v>95.76</c:v>
                </c:pt>
                <c:pt idx="7" c:formatCode="General">
                  <c:v>95.42</c:v>
                </c:pt>
                <c:pt idx="8" c:formatCode="General">
                  <c:v>80.64</c:v>
                </c:pt>
                <c:pt idx="9" c:formatCode="General">
                  <c:v>81.67</c:v>
                </c:pt>
                <c:pt idx="10" c:formatCode="General">
                  <c:v>96.46</c:v>
                </c:pt>
                <c:pt idx="11" c:formatCode="General">
                  <c:v>92.45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4806912"/>
        <c:axId val="64809600"/>
      </c:lineChart>
      <c:catAx>
        <c:axId val="64806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-54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4809600"/>
        <c:crosses val="autoZero"/>
        <c:auto val="1"/>
        <c:lblAlgn val="ctr"/>
        <c:lblOffset val="100"/>
        <c:noMultiLvlLbl val="0"/>
      </c:catAx>
      <c:valAx>
        <c:axId val="64809600"/>
        <c:scaling>
          <c:orientation val="minMax"/>
        </c:scaling>
        <c:delete val="0"/>
        <c:axPos val="l"/>
        <c:numFmt formatCode="0.000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4806912"/>
        <c:crosses val="autoZero"/>
        <c:crossBetween val="between"/>
        <c:majorUnit val="60"/>
      </c:valAx>
      <c:spPr>
        <a:noFill/>
        <a:ln w="8649">
          <a:solidFill>
            <a:schemeClr val="tx1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5d2b294d-7c50-43c0-9395-2c54948793cf}"/>
      </c:ext>
    </c:extLst>
  </c:chart>
  <c:spPr>
    <a:noFill/>
    <a:ln w="12760" cap="flat" cmpd="sng" algn="ctr">
      <a:solidFill>
        <a:srgbClr val="0000FF"/>
      </a:solidFill>
      <a:prstDash val="solid"/>
      <a:miter lim="800000"/>
      <a:headEnd type="none" w="med" len="med"/>
      <a:tailEnd type="none" w="med" len="med"/>
    </a:ln>
  </c:spPr>
  <c:txPr>
    <a:bodyPr/>
    <a:lstStyle/>
    <a:p>
      <a:pPr>
        <a:defRPr lang="en-US" sz="1200" b="1" i="0" u="none" strike="noStrike" baseline="0">
          <a:solidFill>
            <a:schemeClr val="tx1"/>
          </a:solidFill>
          <a:latin typeface="Tahoma" panose="020B0604030504040204"/>
          <a:ea typeface="Tahoma" panose="020B0604030504040204"/>
          <a:cs typeface="Tahoma" panose="020B0604030504040204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8801879039731"/>
          <c:y val="0.107781510812468"/>
          <c:w val="0.926019454822033"/>
          <c:h val="0.6633410040099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rgbClr val="FF0000"/>
              </a:solidFill>
            </a:ln>
          </c:spPr>
          <c:invertIfNegative val="0"/>
          <c:dLbls>
            <c:spPr>
              <a:noFill/>
              <a:ln w="17298">
                <a:noFill/>
              </a:ln>
              <a:effectLst/>
            </c:spPr>
            <c:txPr>
              <a:bodyPr rot="-5400000" spcFirstLastPara="0" vertOverflow="ellipsis" vert="horz" wrap="square" lIns="38100" tIns="19050" rIns="38100" bIns="19050" anchor="ctr" anchorCtr="1"/>
              <a:lstStyle/>
              <a:p>
                <a:pPr algn="ctr"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Tahoma" panose="020B0604030504040204"/>
                    <a:cs typeface="Tahoma" panose="020B060403050404020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Sheet1!$B$2:$O$2</c:f>
              <c:numCache>
                <c:formatCode>0.0</c:formatCode>
                <c:ptCount val="14"/>
                <c:pt idx="0">
                  <c:v>12.03</c:v>
                </c:pt>
                <c:pt idx="1">
                  <c:v>15.868</c:v>
                </c:pt>
                <c:pt idx="2" c:formatCode="General">
                  <c:v>1.158</c:v>
                </c:pt>
                <c:pt idx="3" c:formatCode="General">
                  <c:v>1.17</c:v>
                </c:pt>
                <c:pt idx="4" c:formatCode="General">
                  <c:v>1.68</c:v>
                </c:pt>
                <c:pt idx="5" c:formatCode="General">
                  <c:v>1.38</c:v>
                </c:pt>
                <c:pt idx="6" c:formatCode="General">
                  <c:v>1.64</c:v>
                </c:pt>
                <c:pt idx="7" c:formatCode="General">
                  <c:v>1.92</c:v>
                </c:pt>
                <c:pt idx="8" c:formatCode="General">
                  <c:v>1.73</c:v>
                </c:pt>
                <c:pt idx="9" c:formatCode="General">
                  <c:v>1.52</c:v>
                </c:pt>
                <c:pt idx="10" c:formatCode="General">
                  <c:v>1.99</c:v>
                </c:pt>
                <c:pt idx="11" c:formatCode="General">
                  <c:v>1.68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</c:spPr>
          <c:invertIfNegative val="0"/>
          <c:dLbls>
            <c:dLbl>
              <c:idx val="0"/>
              <c:layout>
                <c:manualLayout>
                  <c:x val="-1.68300277900246e-17"/>
                  <c:y val="0.0030477561795056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00" b="1" i="0" u="none" strike="noStrike" kern="1200" baseline="0">
                    <a:solidFill>
                      <a:schemeClr val="tx1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Sheet1!$B$3:$O$3</c:f>
              <c:numCache>
                <c:formatCode>0.0</c:formatCode>
                <c:ptCount val="14"/>
                <c:pt idx="0">
                  <c:v>11.3</c:v>
                </c:pt>
                <c:pt idx="1">
                  <c:v>13.449</c:v>
                </c:pt>
                <c:pt idx="2" c:formatCode="General">
                  <c:v>0.609</c:v>
                </c:pt>
                <c:pt idx="3" c:formatCode="General">
                  <c:v>0.91</c:v>
                </c:pt>
                <c:pt idx="4" c:formatCode="General">
                  <c:v>1.12</c:v>
                </c:pt>
                <c:pt idx="5" c:formatCode="General">
                  <c:v>1.31</c:v>
                </c:pt>
                <c:pt idx="6" c:formatCode="General">
                  <c:v>1.57</c:v>
                </c:pt>
                <c:pt idx="7" c:formatCode="General">
                  <c:v>1.83</c:v>
                </c:pt>
                <c:pt idx="8" c:formatCode="General">
                  <c:v>1.39</c:v>
                </c:pt>
                <c:pt idx="9" c:formatCode="General">
                  <c:v>1.24</c:v>
                </c:pt>
                <c:pt idx="10" c:formatCode="General">
                  <c:v>1.92</c:v>
                </c:pt>
                <c:pt idx="11" c:formatCode="General">
                  <c:v>1.55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8213376"/>
        <c:axId val="68219264"/>
      </c:barChart>
      <c:catAx>
        <c:axId val="68213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-54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219264"/>
        <c:crosses val="autoZero"/>
        <c:auto val="1"/>
        <c:lblAlgn val="ctr"/>
        <c:lblOffset val="100"/>
        <c:noMultiLvlLbl val="0"/>
      </c:catAx>
      <c:valAx>
        <c:axId val="68219264"/>
        <c:scaling>
          <c:orientation val="minMax"/>
          <c:max val="18"/>
        </c:scaling>
        <c:delete val="0"/>
        <c:axPos val="l"/>
        <c:numFmt formatCode="0.0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213376"/>
        <c:crosses val="autoZero"/>
        <c:crossBetween val="between"/>
      </c:valAx>
      <c:spPr>
        <a:noFill/>
        <a:ln w="8649">
          <a:solidFill>
            <a:schemeClr val="tx1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235e511b-ec91-439a-8203-a2900ae4793e}"/>
      </c:ext>
    </c:extLst>
  </c:chart>
  <c:spPr>
    <a:noFill/>
    <a:ln w="28575" cap="flat" cmpd="dbl" algn="ctr">
      <a:noFill/>
      <a:prstDash val="sysDot"/>
      <a:miter lim="800000"/>
      <a:headEnd type="none" w="med" len="med"/>
      <a:tailEnd type="none" w="med" len="med"/>
    </a:ln>
  </c:spPr>
  <c:txPr>
    <a:bodyPr/>
    <a:lstStyle/>
    <a:p>
      <a:pPr>
        <a:defRPr lang="en-US" sz="525" b="1" i="0" u="none" strike="noStrike" baseline="0">
          <a:solidFill>
            <a:schemeClr val="tx1"/>
          </a:solidFill>
          <a:latin typeface="Tahoma" panose="020B0604030504040204"/>
          <a:ea typeface="Tahoma" panose="020B0604030504040204"/>
          <a:cs typeface="Tahoma" panose="020B0604030504040204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8801879039732"/>
          <c:y val="0.114554277447106"/>
          <c:w val="0.918617530321663"/>
          <c:h val="0.66334100400995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 cmpd="sng" algn="ctr">
              <a:solidFill>
                <a:srgbClr val="FF0000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Sheet1!$B$2:$O$2</c:f>
              <c:numCache>
                <c:formatCode>General</c:formatCode>
                <c:ptCount val="14"/>
                <c:pt idx="0">
                  <c:v>8000</c:v>
                </c:pt>
                <c:pt idx="1">
                  <c:v>8000</c:v>
                </c:pt>
                <c:pt idx="2">
                  <c:v>8000</c:v>
                </c:pt>
                <c:pt idx="3">
                  <c:v>8000</c:v>
                </c:pt>
                <c:pt idx="4">
                  <c:v>8000</c:v>
                </c:pt>
                <c:pt idx="5">
                  <c:v>8000</c:v>
                </c:pt>
                <c:pt idx="6">
                  <c:v>8000</c:v>
                </c:pt>
                <c:pt idx="7">
                  <c:v>8000</c:v>
                </c:pt>
                <c:pt idx="8">
                  <c:v>8000</c:v>
                </c:pt>
                <c:pt idx="9">
                  <c:v>8000</c:v>
                </c:pt>
                <c:pt idx="10">
                  <c:v>8000</c:v>
                </c:pt>
                <c:pt idx="11">
                  <c:v>8000</c:v>
                </c:pt>
                <c:pt idx="12">
                  <c:v>8000</c:v>
                </c:pt>
                <c:pt idx="13">
                  <c:v>8000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Actual</c:v>
                </c:pt>
              </c:strCache>
            </c:strRef>
          </c:tx>
          <c:spPr>
            <a:ln w="31750" cap="rnd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oval"/>
              <a:tailEnd type="oval"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Sheet1!$B$3:$O$3</c:f>
              <c:numCache>
                <c:formatCode>0_ </c:formatCode>
                <c:ptCount val="14"/>
                <c:pt idx="0">
                  <c:v>8070</c:v>
                </c:pt>
                <c:pt idx="1">
                  <c:v>8575.51</c:v>
                </c:pt>
                <c:pt idx="2" c:formatCode="General">
                  <c:v>7056</c:v>
                </c:pt>
                <c:pt idx="3" c:formatCode="General">
                  <c:v>5107</c:v>
                </c:pt>
                <c:pt idx="4" c:formatCode="General">
                  <c:v>7951</c:v>
                </c:pt>
                <c:pt idx="5" c:formatCode="General">
                  <c:v>7973</c:v>
                </c:pt>
                <c:pt idx="6" c:formatCode="General">
                  <c:v>6340</c:v>
                </c:pt>
                <c:pt idx="7" c:formatCode="General">
                  <c:v>7187</c:v>
                </c:pt>
                <c:pt idx="8" c:formatCode="General">
                  <c:v>12387</c:v>
                </c:pt>
                <c:pt idx="9" c:formatCode="General">
                  <c:v>7809</c:v>
                </c:pt>
                <c:pt idx="10" c:formatCode="General">
                  <c:v>13244</c:v>
                </c:pt>
                <c:pt idx="11" c:formatCode="General">
                  <c:v>10701.1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68415488"/>
        <c:axId val="68418944"/>
      </c:lineChart>
      <c:catAx>
        <c:axId val="68415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-54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418944"/>
        <c:crosses val="autoZero"/>
        <c:auto val="1"/>
        <c:lblAlgn val="ctr"/>
        <c:lblOffset val="100"/>
        <c:noMultiLvlLbl val="0"/>
      </c:catAx>
      <c:valAx>
        <c:axId val="684189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415488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35c90a08-e10e-47c0-a34e-47da787406ed}"/>
      </c:ext>
    </c:extLst>
  </c:chart>
  <c:spPr>
    <a:noFill/>
    <a:ln w="12760" cap="flat" cmpd="sng" algn="ctr">
      <a:solidFill>
        <a:srgbClr val="0000FF"/>
      </a:solidFill>
      <a:prstDash val="solid"/>
      <a:miter lim="800000"/>
      <a:headEnd type="none" w="med" len="med"/>
      <a:tailEnd type="none" w="med" len="med"/>
    </a:ln>
  </c:spPr>
  <c:txPr>
    <a:bodyPr/>
    <a:lstStyle/>
    <a:p>
      <a:pPr>
        <a:defRPr lang="en-US" sz="525" b="1" i="0" u="none" strike="noStrike" baseline="0">
          <a:solidFill>
            <a:schemeClr val="tx1"/>
          </a:solidFill>
          <a:latin typeface="Tahoma" panose="020B0604030504040204"/>
          <a:ea typeface="Tahoma" panose="020B0604030504040204"/>
          <a:cs typeface="Tahoma" panose="020B0604030504040204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8801879039732"/>
          <c:y val="0.114554277447106"/>
          <c:w val="0.918617530321663"/>
          <c:h val="0.66334100400995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 cmpd="sng" algn="ctr">
              <a:solidFill>
                <a:srgbClr val="FF0000"/>
              </a:solidFill>
              <a:prstDash val="solid"/>
              <a:round/>
            </a:ln>
          </c:spPr>
          <c:dLbls>
            <c:delete val="1"/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Sheet1!$B$2:$O$2</c:f>
              <c:numCache>
                <c:formatCode>General</c:formatCode>
                <c:ptCount val="14"/>
                <c:pt idx="0">
                  <c:v>3000</c:v>
                </c:pt>
                <c:pt idx="1">
                  <c:v>3000</c:v>
                </c:pt>
                <c:pt idx="2">
                  <c:v>3000</c:v>
                </c:pt>
                <c:pt idx="3">
                  <c:v>3000</c:v>
                </c:pt>
                <c:pt idx="4">
                  <c:v>3000</c:v>
                </c:pt>
                <c:pt idx="5">
                  <c:v>3000</c:v>
                </c:pt>
                <c:pt idx="6">
                  <c:v>3000</c:v>
                </c:pt>
                <c:pt idx="7">
                  <c:v>3000</c:v>
                </c:pt>
                <c:pt idx="8">
                  <c:v>3000</c:v>
                </c:pt>
                <c:pt idx="9">
                  <c:v>3000</c:v>
                </c:pt>
                <c:pt idx="10">
                  <c:v>3000</c:v>
                </c:pt>
                <c:pt idx="11">
                  <c:v>3000</c:v>
                </c:pt>
                <c:pt idx="12">
                  <c:v>3000</c:v>
                </c:pt>
                <c:pt idx="13">
                  <c:v>3000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Actual</c:v>
                </c:pt>
              </c:strCache>
            </c:strRef>
          </c:tx>
          <c:spPr>
            <a:ln w="28575" cap="rnd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oval"/>
              <a:tailEnd type="oval"/>
            </a:ln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Sheet1!$B$3:$O$3</c:f>
              <c:numCache>
                <c:formatCode>0_ </c:formatCode>
                <c:ptCount val="14"/>
                <c:pt idx="0">
                  <c:v>3461</c:v>
                </c:pt>
                <c:pt idx="1">
                  <c:v>3626.01</c:v>
                </c:pt>
                <c:pt idx="2" c:formatCode="General">
                  <c:v>5562.8</c:v>
                </c:pt>
                <c:pt idx="3" c:formatCode="General">
                  <c:v>4384</c:v>
                </c:pt>
                <c:pt idx="4" c:formatCode="General">
                  <c:v>2922</c:v>
                </c:pt>
                <c:pt idx="5" c:formatCode="General">
                  <c:v>2996</c:v>
                </c:pt>
                <c:pt idx="6" c:formatCode="General">
                  <c:v>2850</c:v>
                </c:pt>
                <c:pt idx="7" c:formatCode="General">
                  <c:v>2952</c:v>
                </c:pt>
                <c:pt idx="8" c:formatCode="General">
                  <c:v>2119</c:v>
                </c:pt>
                <c:pt idx="9" c:formatCode="General">
                  <c:v>2819</c:v>
                </c:pt>
                <c:pt idx="10" c:formatCode="General">
                  <c:v>4584</c:v>
                </c:pt>
                <c:pt idx="11" c:formatCode="General">
                  <c:v>5071.3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415488"/>
        <c:axId val="68418944"/>
      </c:lineChart>
      <c:catAx>
        <c:axId val="68415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-54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418944"/>
        <c:crosses val="autoZero"/>
        <c:auto val="1"/>
        <c:lblAlgn val="ctr"/>
        <c:lblOffset val="100"/>
        <c:noMultiLvlLbl val="0"/>
      </c:catAx>
      <c:valAx>
        <c:axId val="684189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415488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718a33b-45ff-45de-a1b8-646c3f3c3b41}"/>
      </c:ext>
    </c:extLst>
  </c:chart>
  <c:spPr>
    <a:noFill/>
    <a:ln w="12760" cap="flat" cmpd="sng" algn="ctr">
      <a:solidFill>
        <a:srgbClr val="0000FF"/>
      </a:solidFill>
      <a:prstDash val="solid"/>
      <a:miter lim="800000"/>
      <a:headEnd type="none" w="med" len="med"/>
      <a:tailEnd type="none" w="med" len="med"/>
    </a:ln>
  </c:spPr>
  <c:txPr>
    <a:bodyPr/>
    <a:lstStyle/>
    <a:p>
      <a:pPr>
        <a:defRPr lang="en-US" sz="525" b="1" i="0" u="none" strike="noStrike" baseline="0">
          <a:solidFill>
            <a:schemeClr val="tx1"/>
          </a:solidFill>
          <a:latin typeface="Tahoma" panose="020B0604030504040204"/>
          <a:ea typeface="Tahoma" panose="020B0604030504040204"/>
          <a:cs typeface="Tahoma" panose="020B0604030504040204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25086112940546"/>
          <c:y val="0.114554277447106"/>
          <c:w val="0.918617530321663"/>
          <c:h val="0.66334100400995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 cmpd="sng" algn="ctr">
              <a:solidFill>
                <a:srgbClr val="FF0000"/>
              </a:solidFill>
              <a:prstDash val="solid"/>
              <a:round/>
            </a:ln>
          </c:spPr>
          <c:dLbls>
            <c:delete val="1"/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Sheet1!$B$2:$O$2</c:f>
              <c:numCache>
                <c:formatCode>General</c:formatCode>
                <c:ptCount val="14"/>
                <c:pt idx="0">
                  <c:v>600</c:v>
                </c:pt>
                <c:pt idx="1">
                  <c:v>600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  <c:pt idx="6">
                  <c:v>600</c:v>
                </c:pt>
                <c:pt idx="7">
                  <c:v>600</c:v>
                </c:pt>
                <c:pt idx="8">
                  <c:v>600</c:v>
                </c:pt>
                <c:pt idx="9">
                  <c:v>600</c:v>
                </c:pt>
                <c:pt idx="10">
                  <c:v>600</c:v>
                </c:pt>
                <c:pt idx="11">
                  <c:v>600</c:v>
                </c:pt>
                <c:pt idx="12">
                  <c:v>600</c:v>
                </c:pt>
                <c:pt idx="13">
                  <c:v>600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Actual</c:v>
                </c:pt>
              </c:strCache>
            </c:strRef>
          </c:tx>
          <c:spPr>
            <a:ln w="28575" cap="rnd" cmpd="sng" algn="ctr">
              <a:solidFill>
                <a:schemeClr val="accent5">
                  <a:lumMod val="75000"/>
                </a:schemeClr>
              </a:solidFill>
              <a:prstDash val="solid"/>
              <a:round/>
            </a:ln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Sheet1!$B$3:$O$3</c:f>
              <c:numCache>
                <c:formatCode>General</c:formatCode>
                <c:ptCount val="14"/>
                <c:pt idx="0">
                  <c:v>699</c:v>
                </c:pt>
                <c:pt idx="1" c:formatCode="0_ ">
                  <c:v>651.5</c:v>
                </c:pt>
                <c:pt idx="2">
                  <c:v>358</c:v>
                </c:pt>
                <c:pt idx="3">
                  <c:v>537</c:v>
                </c:pt>
                <c:pt idx="4">
                  <c:v>664</c:v>
                </c:pt>
                <c:pt idx="5">
                  <c:v>775</c:v>
                </c:pt>
                <c:pt idx="6">
                  <c:v>650</c:v>
                </c:pt>
                <c:pt idx="7">
                  <c:v>640</c:v>
                </c:pt>
                <c:pt idx="8">
                  <c:v>665</c:v>
                </c:pt>
                <c:pt idx="9">
                  <c:v>695</c:v>
                </c:pt>
                <c:pt idx="10">
                  <c:v>908</c:v>
                </c:pt>
                <c:pt idx="11">
                  <c:v>623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415488"/>
        <c:axId val="68418944"/>
      </c:lineChart>
      <c:catAx>
        <c:axId val="68415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-54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418944"/>
        <c:crosses val="autoZero"/>
        <c:auto val="1"/>
        <c:lblAlgn val="ctr"/>
        <c:lblOffset val="100"/>
        <c:noMultiLvlLbl val="0"/>
      </c:catAx>
      <c:valAx>
        <c:axId val="684189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415488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8d9bb1f-f894-4c67-bb93-13e2a5530cd7}"/>
      </c:ext>
    </c:extLst>
  </c:chart>
  <c:spPr>
    <a:noFill/>
    <a:ln w="12760" cap="flat" cmpd="sng" algn="ctr">
      <a:solidFill>
        <a:srgbClr val="0000FF"/>
      </a:solidFill>
      <a:prstDash val="solid"/>
      <a:miter lim="800000"/>
      <a:headEnd type="none" w="med" len="med"/>
      <a:tailEnd type="none" w="med" len="med"/>
    </a:ln>
  </c:spPr>
  <c:txPr>
    <a:bodyPr/>
    <a:lstStyle/>
    <a:p>
      <a:pPr>
        <a:defRPr lang="en-US" sz="525" b="1" i="0" u="none" strike="noStrike" baseline="0">
          <a:solidFill>
            <a:schemeClr val="tx1"/>
          </a:solidFill>
          <a:latin typeface="Tahoma" panose="020B0604030504040204"/>
          <a:ea typeface="Tahoma" panose="020B0604030504040204"/>
          <a:cs typeface="Tahoma" panose="020B0604030504040204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9517846306614"/>
          <c:y val="0.100674494129403"/>
          <c:w val="0.918629668450378"/>
          <c:h val="0.68136397701723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TARGET</c:v>
                </c:pt>
              </c:strCache>
            </c:strRef>
          </c:tx>
          <c:spPr>
            <a:ln w="317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Sheet1!$B$2:$O$2</c:f>
              <c:numCache>
                <c:formatCode>General</c:formatCode>
                <c:ptCount val="14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95</c:v>
                </c:pt>
                <c:pt idx="13">
                  <c:v>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Actual In %</c:v>
                </c:pt>
              </c:strCache>
            </c:strRef>
          </c:tx>
          <c:spPr>
            <a:ln w="38100" cap="sq" cmpd="sng" algn="ctr">
              <a:solidFill>
                <a:schemeClr val="accent5"/>
              </a:solidFill>
              <a:prstDash val="solid"/>
              <a:bevel/>
              <a:headEnd type="oval" w="med" len="med"/>
              <a:tailEnd type="oval"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107950" tIns="71755" rIns="71755" bIns="71755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Sheet1!$B$3:$O$3</c:f>
              <c:numCache>
                <c:formatCode>0.00_ </c:formatCode>
                <c:ptCount val="14"/>
                <c:pt idx="0">
                  <c:v>96.3</c:v>
                </c:pt>
                <c:pt idx="1" c:formatCode="0.0_ ">
                  <c:v>86.9611111111111</c:v>
                </c:pt>
                <c:pt idx="2" c:formatCode="General">
                  <c:v>87.3</c:v>
                </c:pt>
                <c:pt idx="3" c:formatCode="General">
                  <c:v>69.61</c:v>
                </c:pt>
                <c:pt idx="4" c:formatCode="General">
                  <c:v>88.11</c:v>
                </c:pt>
                <c:pt idx="5" c:formatCode="General">
                  <c:v>96.54</c:v>
                </c:pt>
                <c:pt idx="6" c:formatCode="General">
                  <c:v>98.85</c:v>
                </c:pt>
                <c:pt idx="7" c:formatCode="General">
                  <c:v>94.55</c:v>
                </c:pt>
                <c:pt idx="8" c:formatCode="General">
                  <c:v>68.8</c:v>
                </c:pt>
                <c:pt idx="9" c:formatCode="General">
                  <c:v>97.82</c:v>
                </c:pt>
                <c:pt idx="10" c:formatCode="General">
                  <c:v>81.07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4806912"/>
        <c:axId val="64809600"/>
      </c:lineChart>
      <c:catAx>
        <c:axId val="64806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172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5400000" spcFirstLastPara="0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4809600"/>
        <c:crosses val="autoZero"/>
        <c:auto val="1"/>
        <c:lblAlgn val="ctr"/>
        <c:lblOffset val="100"/>
        <c:noMultiLvlLbl val="0"/>
      </c:catAx>
      <c:valAx>
        <c:axId val="64809600"/>
        <c:scaling>
          <c:orientation val="minMax"/>
          <c:max val="12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2172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4806912"/>
        <c:crosses val="autoZero"/>
        <c:crossBetween val="between"/>
        <c:majorUnit val="20"/>
      </c:valAx>
      <c:spPr>
        <a:noFill/>
        <a:ln w="8649">
          <a:solidFill>
            <a:schemeClr val="tx1"/>
          </a:solidFill>
          <a:prstDash val="solid"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9313474-831a-4f2d-80be-fb58fbfc70e2}"/>
      </c:ext>
    </c:extLst>
  </c:chart>
  <c:spPr>
    <a:noFill/>
    <a:ln w="12760" cap="flat" cmpd="sng" algn="ctr">
      <a:solidFill>
        <a:srgbClr val="0000FF"/>
      </a:solidFill>
      <a:prstDash val="solid"/>
      <a:miter lim="800000"/>
      <a:headEnd type="none" w="med" len="med"/>
      <a:tailEnd type="none" w="med" len="med"/>
    </a:ln>
    <a:effectLst/>
  </c:spPr>
  <c:txPr>
    <a:bodyPr/>
    <a:lstStyle/>
    <a:p>
      <a:pPr>
        <a:defRPr lang="en-US" sz="525" b="1" i="0" u="none" strike="noStrike" baseline="0">
          <a:solidFill>
            <a:schemeClr val="tx1"/>
          </a:solidFill>
          <a:latin typeface="Tahoma" panose="020B0604030504040204"/>
          <a:ea typeface="Tahoma" panose="020B0604030504040204"/>
          <a:cs typeface="Tahoma" panose="020B0604030504040204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8801879039731"/>
          <c:y val="0.107781510812468"/>
          <c:w val="0.926019454822033"/>
          <c:h val="0.6633410040099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Plan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solidFill>
                <a:srgbClr val="FF0000"/>
              </a:solidFill>
            </a:ln>
          </c:spPr>
          <c:invertIfNegative val="0"/>
          <c:dLbls>
            <c:spPr>
              <a:noFill/>
              <a:ln w="17298">
                <a:noFill/>
              </a:ln>
              <a:effectLst/>
            </c:spPr>
            <c:txPr>
              <a:bodyPr rot="-5400000" spcFirstLastPara="0" vertOverflow="ellipsis" vert="horz" wrap="square" lIns="38100" tIns="19050" rIns="38100" bIns="19050" anchor="ctr" anchorCtr="1"/>
              <a:lstStyle/>
              <a:p>
                <a:pPr algn="ctr"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Tahoma" panose="020B0604030504040204"/>
                    <a:cs typeface="Tahoma" panose="020B060403050404020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Sheet1!$B$1:$O$1</c:f>
              <c:strCache>
                <c:ptCount val="14"/>
                <c:pt idx="0">
                  <c:v>24~25 (SUM)</c:v>
                </c:pt>
                <c:pt idx="1">
                  <c:v>25~26 (SUM)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Sheet1!$B$2:$O$2</c:f>
              <c:numCache>
                <c:formatCode>0.0</c:formatCode>
                <c:ptCount val="14"/>
                <c:pt idx="0">
                  <c:v>298.43</c:v>
                </c:pt>
                <c:pt idx="1" c:formatCode="General">
                  <c:v>269.63</c:v>
                </c:pt>
                <c:pt idx="2">
                  <c:v>25.78</c:v>
                </c:pt>
                <c:pt idx="3" c:formatCode="General">
                  <c:v>34.45</c:v>
                </c:pt>
                <c:pt idx="4" c:formatCode="General">
                  <c:v>29.61</c:v>
                </c:pt>
                <c:pt idx="5" c:formatCode="General">
                  <c:v>29</c:v>
                </c:pt>
                <c:pt idx="6" c:formatCode="General">
                  <c:v>36.35</c:v>
                </c:pt>
                <c:pt idx="7" c:formatCode="General">
                  <c:v>37.74</c:v>
                </c:pt>
                <c:pt idx="8" c:formatCode="General">
                  <c:v>27.08</c:v>
                </c:pt>
                <c:pt idx="9" c:formatCode="General">
                  <c:v>16.76</c:v>
                </c:pt>
                <c:pt idx="10" c:formatCode="General">
                  <c:v>32.86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Actual</c:v>
                </c:pt>
              </c:strCache>
            </c:strRef>
          </c:tx>
          <c:spPr>
            <a:gradFill>
              <a:gsLst>
                <a:gs pos="0">
                  <a:srgbClr val="FECF40"/>
                </a:gs>
                <a:gs pos="100000">
                  <a:srgbClr val="846C21"/>
                </a:gs>
              </a:gsLst>
              <a:lin ang="5400000" scaled="0"/>
            </a:gradFill>
          </c:spPr>
          <c:invertIfNegative val="0"/>
          <c:dLbls>
            <c:dLbl>
              <c:idx val="0"/>
              <c:layout>
                <c:manualLayout>
                  <c:x val="-1.68300277900246e-17"/>
                  <c:y val="0.0030477561795056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00" b="1" i="0" u="none" strike="noStrike" kern="1200" baseline="0">
                    <a:solidFill>
                      <a:schemeClr val="tx1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Sheet1!$B$1:$O$1</c:f>
              <c:strCache>
                <c:ptCount val="14"/>
                <c:pt idx="0">
                  <c:v>24~25 (SUM)</c:v>
                </c:pt>
                <c:pt idx="1">
                  <c:v>25~26 (SUM)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Sheet1!$B$3:$O$3</c:f>
              <c:numCache>
                <c:formatCode>0.0</c:formatCode>
                <c:ptCount val="14"/>
                <c:pt idx="0">
                  <c:v>287.19</c:v>
                </c:pt>
                <c:pt idx="1" c:formatCode="General">
                  <c:v>233.87</c:v>
                </c:pt>
                <c:pt idx="2">
                  <c:v>22.55</c:v>
                </c:pt>
                <c:pt idx="3" c:formatCode="General">
                  <c:v>23.98</c:v>
                </c:pt>
                <c:pt idx="4" c:formatCode="General">
                  <c:v>26.08</c:v>
                </c:pt>
                <c:pt idx="5" c:formatCode="General">
                  <c:v>27.99</c:v>
                </c:pt>
                <c:pt idx="6" c:formatCode="General">
                  <c:v>35.93</c:v>
                </c:pt>
                <c:pt idx="7" c:formatCode="General">
                  <c:v>35.68</c:v>
                </c:pt>
                <c:pt idx="8" c:formatCode="General">
                  <c:v>18.63</c:v>
                </c:pt>
                <c:pt idx="9" c:formatCode="General">
                  <c:v>16.39</c:v>
                </c:pt>
                <c:pt idx="10" c:formatCode="General">
                  <c:v>26.64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8213376"/>
        <c:axId val="68219264"/>
      </c:barChart>
      <c:catAx>
        <c:axId val="68213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-54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219264"/>
        <c:crosses val="autoZero"/>
        <c:auto val="1"/>
        <c:lblAlgn val="ctr"/>
        <c:lblOffset val="100"/>
        <c:noMultiLvlLbl val="0"/>
      </c:catAx>
      <c:valAx>
        <c:axId val="68219264"/>
        <c:scaling>
          <c:orientation val="minMax"/>
        </c:scaling>
        <c:delete val="0"/>
        <c:axPos val="l"/>
        <c:numFmt formatCode="0.0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213376"/>
        <c:crosses val="autoZero"/>
        <c:crossBetween val="between"/>
      </c:valAx>
      <c:spPr>
        <a:noFill/>
        <a:ln w="8649">
          <a:solidFill>
            <a:schemeClr val="tx1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c29cb00-fe40-4efc-843c-ca4e39050491}"/>
      </c:ext>
    </c:extLst>
  </c:chart>
  <c:spPr>
    <a:noFill/>
    <a:ln w="12700" cap="flat" cmpd="sng" algn="ctr">
      <a:solidFill>
        <a:schemeClr val="tx1"/>
      </a:solidFill>
      <a:prstDash val="solid"/>
      <a:miter lim="800000"/>
      <a:headEnd type="none" w="med" len="med"/>
      <a:tailEnd type="none" w="med" len="med"/>
    </a:ln>
  </c:spPr>
  <c:txPr>
    <a:bodyPr/>
    <a:lstStyle/>
    <a:p>
      <a:pPr>
        <a:defRPr lang="en-US" sz="525" b="1" i="0" u="none" strike="noStrike" baseline="0">
          <a:solidFill>
            <a:schemeClr val="tx1"/>
          </a:solidFill>
          <a:latin typeface="Tahoma" panose="020B0604030504040204"/>
          <a:ea typeface="Tahoma" panose="020B0604030504040204"/>
          <a:cs typeface="Tahoma" panose="020B0604030504040204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8801879039732"/>
          <c:y val="0.114554277447106"/>
          <c:w val="0.918617530321663"/>
          <c:h val="0.66334100400995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 cmpd="sng" algn="ctr">
              <a:solidFill>
                <a:srgbClr val="FF0000"/>
              </a:solidFill>
              <a:prstDash val="solid"/>
              <a:round/>
            </a:ln>
          </c:spPr>
          <c:dLbls>
            <c:delete val="1"/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Sheet1!$B$2:$O$2</c:f>
              <c:numCache>
                <c:formatCode>General</c:formatCode>
                <c:ptCount val="14"/>
                <c:pt idx="0">
                  <c:v>10000</c:v>
                </c:pt>
                <c:pt idx="1">
                  <c:v>10000</c:v>
                </c:pt>
                <c:pt idx="2">
                  <c:v>10000</c:v>
                </c:pt>
                <c:pt idx="3">
                  <c:v>10000</c:v>
                </c:pt>
                <c:pt idx="4">
                  <c:v>10000</c:v>
                </c:pt>
                <c:pt idx="5">
                  <c:v>10000</c:v>
                </c:pt>
                <c:pt idx="6">
                  <c:v>10000</c:v>
                </c:pt>
                <c:pt idx="7">
                  <c:v>10000</c:v>
                </c:pt>
                <c:pt idx="8">
                  <c:v>10000</c:v>
                </c:pt>
                <c:pt idx="9">
                  <c:v>10000</c:v>
                </c:pt>
                <c:pt idx="10">
                  <c:v>10000</c:v>
                </c:pt>
                <c:pt idx="11">
                  <c:v>10000</c:v>
                </c:pt>
                <c:pt idx="12">
                  <c:v>10000</c:v>
                </c:pt>
                <c:pt idx="13">
                  <c:v>10000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Actual</c:v>
                </c:pt>
              </c:strCache>
            </c:strRef>
          </c:tx>
          <c:spPr>
            <a:ln w="28575" cap="rnd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Sheet1!$B$3:$O$3</c:f>
              <c:numCache>
                <c:formatCode>0_ </c:formatCode>
                <c:ptCount val="14"/>
                <c:pt idx="0">
                  <c:v>8350</c:v>
                </c:pt>
                <c:pt idx="1">
                  <c:v>9261.13333333333</c:v>
                </c:pt>
                <c:pt idx="2">
                  <c:v>11486</c:v>
                </c:pt>
                <c:pt idx="3">
                  <c:v>9597.2</c:v>
                </c:pt>
                <c:pt idx="4">
                  <c:v>8208</c:v>
                </c:pt>
                <c:pt idx="5">
                  <c:v>9530</c:v>
                </c:pt>
                <c:pt idx="6">
                  <c:v>8919</c:v>
                </c:pt>
                <c:pt idx="7">
                  <c:v>9079</c:v>
                </c:pt>
                <c:pt idx="8">
                  <c:v>7813</c:v>
                </c:pt>
                <c:pt idx="9">
                  <c:v>8832</c:v>
                </c:pt>
                <c:pt idx="10">
                  <c:v>9886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415488"/>
        <c:axId val="68418944"/>
      </c:lineChart>
      <c:catAx>
        <c:axId val="68415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8575" cap="flat" cmpd="sng" algn="ctr">
            <a:solidFill>
              <a:schemeClr val="tx1"/>
            </a:solidFill>
            <a:prstDash val="solid"/>
            <a:round/>
          </a:ln>
        </c:spPr>
        <c:txPr>
          <a:bodyPr rot="-5400000" spcFirstLastPara="0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418944"/>
        <c:crosses val="autoZero"/>
        <c:auto val="1"/>
        <c:lblAlgn val="ctr"/>
        <c:lblOffset val="100"/>
        <c:noMultiLvlLbl val="0"/>
      </c:catAx>
      <c:valAx>
        <c:axId val="684189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415488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7cfa502-225f-4c06-b94e-05ab435d75c2}"/>
      </c:ext>
    </c:extLst>
  </c:chart>
  <c:spPr>
    <a:noFill/>
    <a:ln w="12760" cap="flat" cmpd="sng" algn="ctr">
      <a:solidFill>
        <a:srgbClr val="0000FF"/>
      </a:solidFill>
      <a:prstDash val="solid"/>
      <a:miter lim="800000"/>
      <a:headEnd type="none" w="med" len="med"/>
      <a:tailEnd type="none" w="med" len="med"/>
    </a:ln>
  </c:spPr>
  <c:txPr>
    <a:bodyPr/>
    <a:lstStyle/>
    <a:p>
      <a:pPr>
        <a:defRPr lang="en-US" sz="525" b="1" i="0" u="none" strike="noStrike" baseline="0">
          <a:solidFill>
            <a:schemeClr val="tx1"/>
          </a:solidFill>
          <a:latin typeface="Tahoma" panose="020B0604030504040204"/>
          <a:ea typeface="Tahoma" panose="020B0604030504040204"/>
          <a:cs typeface="Tahoma" panose="020B0604030504040204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8801879039732"/>
          <c:y val="0.114554277447106"/>
          <c:w val="0.918617530321663"/>
          <c:h val="0.66334100400995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 cmpd="sng" algn="ctr">
              <a:solidFill>
                <a:srgbClr val="FF0000"/>
              </a:solidFill>
              <a:prstDash val="solid"/>
              <a:round/>
            </a:ln>
          </c:spPr>
          <c:dLbls>
            <c:delete val="1"/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Sheet1!$B$2:$O$2</c:f>
              <c:numCache>
                <c:formatCode>General</c:formatCode>
                <c:ptCount val="14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15000</c:v>
                </c:pt>
                <c:pt idx="6">
                  <c:v>15000</c:v>
                </c:pt>
                <c:pt idx="7">
                  <c:v>15000</c:v>
                </c:pt>
                <c:pt idx="8">
                  <c:v>15000</c:v>
                </c:pt>
                <c:pt idx="9">
                  <c:v>15000</c:v>
                </c:pt>
                <c:pt idx="10">
                  <c:v>15000</c:v>
                </c:pt>
                <c:pt idx="11">
                  <c:v>15000</c:v>
                </c:pt>
                <c:pt idx="12">
                  <c:v>15000</c:v>
                </c:pt>
                <c:pt idx="13">
                  <c:v>15000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Actual</c:v>
                </c:pt>
              </c:strCache>
            </c:strRef>
          </c:tx>
          <c:spPr>
            <a:ln w="38100" cap="rnd" cmpd="sng" algn="ctr">
              <a:solidFill>
                <a:schemeClr val="accent5">
                  <a:lumMod val="75000"/>
                </a:schemeClr>
              </a:solidFill>
              <a:prstDash val="solid"/>
              <a:round/>
            </a:ln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Sheet1!$B$1:$O$1</c:f>
              <c:strCache>
                <c:ptCount val="14"/>
                <c:pt idx="0">
                  <c:v>24~25 (AVG)</c:v>
                </c:pt>
                <c:pt idx="1">
                  <c:v>25~26 (AVG)</c:v>
                </c:pt>
                <c:pt idx="2" c:formatCode="mmm/yy">
                  <c:v>Apr-25</c:v>
                </c:pt>
                <c:pt idx="3" c:formatCode="mmm/yy">
                  <c:v>May-25</c:v>
                </c:pt>
                <c:pt idx="4" c:formatCode="mmm/yy">
                  <c:v>Jun-25</c:v>
                </c:pt>
                <c:pt idx="5" c:formatCode="mmm/yy">
                  <c:v>Jul-25</c:v>
                </c:pt>
                <c:pt idx="6" c:formatCode="mmm/yy">
                  <c:v>Aug-25</c:v>
                </c:pt>
                <c:pt idx="7" c:formatCode="mmm/yy">
                  <c:v>Sep-25</c:v>
                </c:pt>
                <c:pt idx="8" c:formatCode="mmm/yy">
                  <c:v>Oct-25</c:v>
                </c:pt>
                <c:pt idx="9" c:formatCode="mmm/yy">
                  <c:v>Nov-25</c:v>
                </c:pt>
                <c:pt idx="10" c:formatCode="mmm/yy">
                  <c:v>Dec-25</c:v>
                </c:pt>
                <c:pt idx="11" c:formatCode="mmm/yy">
                  <c:v>Jan-26</c:v>
                </c:pt>
                <c:pt idx="12" c:formatCode="mmm/yy">
                  <c:v>Feb-26</c:v>
                </c:pt>
                <c:pt idx="13" c:formatCode="mmm/yy">
                  <c:v>Mar-26</c:v>
                </c:pt>
              </c:strCache>
            </c:strRef>
          </c:cat>
          <c:val>
            <c:numRef>
              <c:f>Sheet1!$B$3:$O$3</c:f>
              <c:numCache>
                <c:formatCode>0_ </c:formatCode>
                <c:ptCount val="14"/>
                <c:pt idx="0">
                  <c:v>12761.5</c:v>
                </c:pt>
                <c:pt idx="1" c:formatCode="General">
                  <c:v>14013.5</c:v>
                </c:pt>
                <c:pt idx="2" c:formatCode="General">
                  <c:v>12831</c:v>
                </c:pt>
                <c:pt idx="3" c:formatCode="General">
                  <c:v>14112.2</c:v>
                </c:pt>
                <c:pt idx="4" c:formatCode="General">
                  <c:v>14209.3</c:v>
                </c:pt>
                <c:pt idx="5" c:formatCode="General">
                  <c:v>14319</c:v>
                </c:pt>
                <c:pt idx="6" c:formatCode="General">
                  <c:v>13043</c:v>
                </c:pt>
                <c:pt idx="7" c:formatCode="General">
                  <c:v>14375</c:v>
                </c:pt>
                <c:pt idx="8" c:formatCode="General">
                  <c:v>11042</c:v>
                </c:pt>
                <c:pt idx="9" c:formatCode="General">
                  <c:v>14644</c:v>
                </c:pt>
                <c:pt idx="10" c:formatCode="General">
                  <c:v>17546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415488"/>
        <c:axId val="68418944"/>
      </c:lineChart>
      <c:catAx>
        <c:axId val="68415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-54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418944"/>
        <c:crosses val="autoZero"/>
        <c:auto val="1"/>
        <c:lblAlgn val="ctr"/>
        <c:lblOffset val="100"/>
        <c:noMultiLvlLbl val="0"/>
      </c:catAx>
      <c:valAx>
        <c:axId val="68418944"/>
        <c:scaling>
          <c:orientation val="minMax"/>
          <c:max val="1800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2172" cap="flat" cmpd="sng" algn="ctr">
            <a:solidFill>
              <a:schemeClr val="tx1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Tahoma" panose="020B0604030504040204"/>
                <a:cs typeface="Tahoma" panose="020B0604030504040204"/>
              </a:defRPr>
            </a:pPr>
          </a:p>
        </c:txPr>
        <c:crossAx val="68415488"/>
        <c:crosses val="autoZero"/>
        <c:crossBetween val="between"/>
        <c:majorUnit val="3000"/>
      </c:valAx>
    </c:plotArea>
    <c:plotVisOnly val="1"/>
    <c:dispBlanksAs val="gap"/>
    <c:showDLblsOverMax val="0"/>
    <c:extLst>
      <c:ext uri="{0b15fc19-7d7d-44ad-8c2d-2c3a37ce22c3}">
        <chartProps xmlns="https://web.wps.cn/et/2018/main" chartId="{21c194f5-f06f-4a49-b549-c2497d93a39f}"/>
      </c:ext>
    </c:extLst>
  </c:chart>
  <c:spPr>
    <a:noFill/>
    <a:ln w="12760" cap="flat" cmpd="sng" algn="ctr">
      <a:solidFill>
        <a:srgbClr val="0000FF"/>
      </a:solidFill>
      <a:prstDash val="solid"/>
      <a:miter lim="800000"/>
      <a:headEnd type="none" w="med" len="med"/>
      <a:tailEnd type="none" w="med" len="med"/>
    </a:ln>
  </c:spPr>
  <c:txPr>
    <a:bodyPr/>
    <a:lstStyle/>
    <a:p>
      <a:pPr>
        <a:defRPr lang="en-US" sz="525" b="1" i="0" u="none" strike="noStrike" baseline="0">
          <a:solidFill>
            <a:schemeClr val="tx1"/>
          </a:solidFill>
          <a:latin typeface="Tahoma" panose="020B0604030504040204"/>
          <a:ea typeface="Tahoma" panose="020B0604030504040204"/>
          <a:cs typeface="Tahoma" panose="020B0604030504040204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MRS BEARINGS PRIVATE LIMITED</a:t>
            </a:r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r>
              <a:rPr lang="en-US" sz="4400" b="1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charset="0"/>
                <a:cs typeface="Comic Sans MS" panose="030F0702030302020204" charset="0"/>
                <a:sym typeface="+mn-ea"/>
              </a:rPr>
              <a:t>MRM PRESENTATION</a:t>
            </a:r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r>
              <a:rPr 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charset="0"/>
                <a:cs typeface="Comic Sans MS" panose="030F0702030302020204" charset="0"/>
                <a:sym typeface="+mn-ea"/>
              </a:rPr>
              <a:t>APRIL-2025 </a:t>
            </a:r>
            <a:r>
              <a:rPr lang="en-IN" alt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charset="0"/>
                <a:cs typeface="Comic Sans MS" panose="030F0702030302020204" charset="0"/>
                <a:sym typeface="+mn-ea"/>
              </a:rPr>
              <a:t>to MARCH-2026</a:t>
            </a:r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endParaRPr 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ctr"/>
            <a:br>
              <a:rPr 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sz="3600" b="1">
                <a:solidFill>
                  <a:schemeClr val="tx1"/>
                </a:solidFill>
                <a:effectLst/>
                <a:latin typeface="Comic Sans MS" panose="030F0702030302020204" charset="0"/>
                <a:cs typeface="Comic Sans MS" panose="030F0702030302020204" charset="0"/>
                <a:sym typeface="+mn-ea"/>
              </a:rPr>
              <a:t>UNIT-II</a:t>
            </a:r>
            <a:endParaRPr lang="en-US" sz="4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n-US" sz="4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88290" y="2804160"/>
            <a:ext cx="116154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6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charset="0"/>
                <a:cs typeface="Comic Sans MS" panose="030F0702030302020204" charset="0"/>
              </a:rPr>
              <a:t>Shell &amp; Bearing Division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711624" y="395010"/>
            <a:ext cx="6664057" cy="432048"/>
          </a:xfrm>
        </p:spPr>
        <p:txBody>
          <a:bodyPr>
            <a:normAutofit fontScale="72500" lnSpcReduction="20000"/>
          </a:bodyPr>
          <a:p>
            <a:r>
              <a:rPr lang="en-US" sz="2400" dirty="0" smtClean="0">
                <a:solidFill>
                  <a:srgbClr val="0070C0"/>
                </a:solidFill>
              </a:rPr>
              <a:t> Achievement Towards KPI &amp; Quality Objectives    </a:t>
            </a:r>
            <a:r>
              <a:rPr lang="en-US" dirty="0" smtClean="0">
                <a:solidFill>
                  <a:srgbClr val="0070C0"/>
                </a:solidFill>
              </a:rPr>
              <a:t>                                                               </a:t>
            </a:r>
            <a:r>
              <a:rPr lang="en-US" sz="1100" dirty="0" smtClean="0">
                <a:solidFill>
                  <a:srgbClr val="0070C0"/>
                </a:solidFill>
              </a:rPr>
              <a:t>(Ref Doc Tur/MJA/04 and QM </a:t>
            </a:r>
            <a:r>
              <a:rPr lang="en-US" sz="1100" dirty="0" smtClean="0">
                <a:solidFill>
                  <a:schemeClr val="accent1">
                    <a:lumMod val="75000"/>
                  </a:schemeClr>
                </a:solidFill>
              </a:rPr>
              <a:t>Ref : 9.3)</a:t>
            </a:r>
            <a:endParaRPr lang="en-US" sz="11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0825" y="728980"/>
          <a:ext cx="11629390" cy="5991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25"/>
                <a:gridCol w="3589655"/>
                <a:gridCol w="2414270"/>
                <a:gridCol w="2324735"/>
                <a:gridCol w="2326005"/>
              </a:tblGrid>
              <a:tr h="789305">
                <a:tc>
                  <a:txBody>
                    <a:bodyPr/>
                    <a:p>
                      <a:pPr algn="ctr"/>
                      <a:r>
                        <a:rPr lang="en-IN" dirty="0" smtClean="0"/>
                        <a:t>Sr.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IN" dirty="0" smtClean="0"/>
                        <a:t>KPI 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IN" dirty="0" smtClean="0"/>
                        <a:t>target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IN" dirty="0" smtClean="0"/>
                        <a:t>Actual</a:t>
                      </a:r>
                      <a:endParaRPr lang="en-US" altLang="en-IN" dirty="0" smtClean="0"/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IN" dirty="0" smtClean="0"/>
                        <a:t>status</a:t>
                      </a:r>
                      <a:endParaRPr lang="en-IN" dirty="0"/>
                    </a:p>
                  </a:txBody>
                  <a:tcPr/>
                </a:tc>
              </a:tr>
              <a:tr h="1056005">
                <a:tc>
                  <a:txBody>
                    <a:bodyPr/>
                    <a:p>
                      <a:r>
                        <a:rPr lang="en-US" altLang="en-IN" dirty="0"/>
                        <a:t>1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 smtClean="0"/>
                        <a:t>Plan</a:t>
                      </a:r>
                      <a:r>
                        <a:rPr lang="en-IN" baseline="0" dirty="0" smtClean="0"/>
                        <a:t> Attainment</a:t>
                      </a:r>
                      <a:endParaRPr lang="en-IN" baseline="0" dirty="0" smtClean="0"/>
                    </a:p>
                    <a:p>
                      <a:r>
                        <a:rPr lang="en-IN" baseline="0" dirty="0" smtClean="0"/>
                        <a:t>In % Bearing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en-IN" b="1" dirty="0" smtClean="0">
                          <a:solidFill>
                            <a:schemeClr val="tx1"/>
                          </a:solidFill>
                        </a:rPr>
                        <a:t>95%</a:t>
                      </a:r>
                      <a:endParaRPr lang="en-US" altLang="en-IN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altLang="en-US" dirty="0"/>
                        <a:t>83.5</a:t>
                      </a:r>
                      <a:r>
                        <a:rPr lang="en-US" altLang="en-IN" dirty="0"/>
                        <a:t> %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endParaRPr lang="en-IN" dirty="0"/>
                    </a:p>
                  </a:txBody>
                  <a:tcPr/>
                </a:tc>
              </a:tr>
              <a:tr h="1057275">
                <a:tc>
                  <a:txBody>
                    <a:bodyPr/>
                    <a:p>
                      <a:r>
                        <a:rPr lang="en-US" altLang="en-IN" dirty="0"/>
                        <a:t>2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smtClean="0"/>
                        <a:t>Plan</a:t>
                      </a:r>
                      <a:r>
                        <a:rPr lang="en-IN" baseline="0" dirty="0" smtClean="0"/>
                        <a:t> Attainment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In QNTY Bearing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dirty="0" smtClean="0"/>
                        <a:t>13.2</a:t>
                      </a:r>
                      <a:r>
                        <a:rPr lang="en-IN" dirty="0" smtClean="0"/>
                        <a:t> lakhs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altLang="en-US" dirty="0"/>
                        <a:t>13.4</a:t>
                      </a:r>
                      <a:endParaRPr lang="en-IN" altLang="en-US" dirty="0"/>
                    </a:p>
                  </a:txBody>
                  <a:tcPr/>
                </a:tc>
                <a:tc>
                  <a:txBody>
                    <a:bodyPr/>
                    <a:p>
                      <a:endParaRPr lang="en-IN" dirty="0"/>
                    </a:p>
                  </a:txBody>
                  <a:tcPr/>
                </a:tc>
              </a:tr>
              <a:tr h="1029335">
                <a:tc>
                  <a:txBody>
                    <a:bodyPr/>
                    <a:p>
                      <a:r>
                        <a:rPr lang="en-US" altLang="en-IN" dirty="0"/>
                        <a:t>3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/>
                        <a:t>Scrap PPM( Bearing)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/>
                        <a:t>8000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altLang="en-US" dirty="0"/>
                        <a:t>8603.6</a:t>
                      </a:r>
                      <a:endParaRPr lang="en-IN" altLang="en-US" dirty="0"/>
                    </a:p>
                  </a:txBody>
                  <a:tcPr/>
                </a:tc>
                <a:tc>
                  <a:txBody>
                    <a:bodyPr/>
                    <a:p>
                      <a:endParaRPr lang="en-IN" dirty="0"/>
                    </a:p>
                  </a:txBody>
                  <a:tcPr/>
                </a:tc>
              </a:tr>
              <a:tr h="1030605">
                <a:tc>
                  <a:txBody>
                    <a:bodyPr/>
                    <a:p>
                      <a:r>
                        <a:rPr lang="en-US" altLang="en-IN" dirty="0"/>
                        <a:t>4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/>
                        <a:t>Rework PPM(Bearing)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/>
                        <a:t>3000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altLang="en-US" dirty="0"/>
                        <a:t>3635.8</a:t>
                      </a:r>
                      <a:endParaRPr lang="en-IN" altLang="en-US" dirty="0"/>
                    </a:p>
                  </a:txBody>
                  <a:tcPr/>
                </a:tc>
                <a:tc>
                  <a:txBody>
                    <a:bodyPr/>
                    <a:p>
                      <a:endParaRPr lang="en-IN" dirty="0"/>
                    </a:p>
                  </a:txBody>
                  <a:tcPr/>
                </a:tc>
              </a:tr>
              <a:tr h="1029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IN" dirty="0"/>
                        <a:t>5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IN" dirty="0"/>
                        <a:t>Bearings Per manday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IN" dirty="0"/>
                        <a:t>600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dirty="0"/>
                        <a:t>649.7</a:t>
                      </a:r>
                      <a:endParaRPr lang="en-IN" altLang="en-US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4861560" y="-29210"/>
            <a:ext cx="236410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IN" sz="3200" b="1" dirty="0" smtClean="0">
                <a:sym typeface="+mn-ea"/>
              </a:rPr>
              <a:t>Agenda Shell</a:t>
            </a:r>
            <a:endParaRPr lang="en-IN" sz="3200" b="1" dirty="0" smtClean="0"/>
          </a:p>
        </p:txBody>
      </p:sp>
      <p:sp>
        <p:nvSpPr>
          <p:cNvPr id="9" name="Down Arrow 8"/>
          <p:cNvSpPr/>
          <p:nvPr/>
        </p:nvSpPr>
        <p:spPr>
          <a:xfrm>
            <a:off x="10362565" y="1819910"/>
            <a:ext cx="545465" cy="46164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 rot="10800000">
            <a:off x="10362565" y="2896235"/>
            <a:ext cx="545465" cy="46164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Down Arrow 10"/>
          <p:cNvSpPr/>
          <p:nvPr/>
        </p:nvSpPr>
        <p:spPr>
          <a:xfrm rot="10800000">
            <a:off x="10362565" y="3962400"/>
            <a:ext cx="545465" cy="46164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Down Arrow 11"/>
          <p:cNvSpPr/>
          <p:nvPr/>
        </p:nvSpPr>
        <p:spPr>
          <a:xfrm rot="10800000">
            <a:off x="10362565" y="4953000"/>
            <a:ext cx="545465" cy="46164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Down Arrow 12"/>
          <p:cNvSpPr/>
          <p:nvPr/>
        </p:nvSpPr>
        <p:spPr>
          <a:xfrm rot="10800000">
            <a:off x="10362565" y="5992495"/>
            <a:ext cx="545465" cy="46164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675" y="5775325"/>
          <a:ext cx="1150747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9870"/>
                <a:gridCol w="7467600"/>
              </a:tblGrid>
              <a:tr h="297180">
                <a:tc>
                  <a:txBody>
                    <a:bodyPr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Failure</a:t>
                      </a:r>
                      <a:endParaRPr lang="en-IN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r>
                        <a:rPr lang="en-IN" sz="1350" dirty="0">
                          <a:solidFill>
                            <a:schemeClr val="tx1"/>
                          </a:solidFill>
                        </a:rPr>
                        <a:t>Plan attainment not achieved in Apr-25</a:t>
                      </a:r>
                      <a:endParaRPr lang="en-IN" sz="135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r>
                        <a:rPr lang="en-US" sz="1500" b="1" dirty="0"/>
                        <a:t>Reason</a:t>
                      </a:r>
                      <a:endParaRPr lang="en-IN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r>
                        <a:rPr lang="en-IN" sz="1350" dirty="0">
                          <a:solidFill>
                            <a:schemeClr val="tx1"/>
                          </a:solidFill>
                          <a:sym typeface="+mn-ea"/>
                        </a:rPr>
                        <a:t>Majorly due to Danfoss Ring trial &amp; error (Complaint recieved for diameter o/s &amp; thickness variation</a:t>
                      </a:r>
                      <a:endParaRPr lang="en-IN" sz="135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r>
                        <a:rPr lang="en-US" sz="1500" b="1" dirty="0"/>
                        <a:t>Corrective Actions</a:t>
                      </a:r>
                      <a:endParaRPr lang="en-IN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r>
                        <a:rPr lang="en-IN" sz="1350" dirty="0"/>
                        <a:t>Changes made in tooling, 100% ID plug pass started.</a:t>
                      </a:r>
                      <a:endParaRPr lang="en-IN" sz="135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320040" y="729615"/>
          <a:ext cx="11510010" cy="5045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3745548" y="54610"/>
            <a:ext cx="459613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IN" sz="3200" b="1" dirty="0" smtClean="0">
                <a:sym typeface="+mn-ea"/>
              </a:rPr>
              <a:t>Plan Attainment (%)- Shell</a:t>
            </a:r>
            <a:endParaRPr lang="en-US" altLang="en-IN" sz="32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94640" y="72834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4005" y="5601970"/>
          <a:ext cx="11513820" cy="1080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2410"/>
                <a:gridCol w="7471410"/>
              </a:tblGrid>
              <a:tr h="405765">
                <a:tc>
                  <a:txBody>
                    <a:bodyPr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Failure</a:t>
                      </a:r>
                      <a:endParaRPr lang="en-IN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r>
                        <a:rPr lang="en-IN" sz="1350" dirty="0">
                          <a:solidFill>
                            <a:schemeClr val="tx1"/>
                          </a:solidFill>
                          <a:sym typeface="+mn-ea"/>
                        </a:rPr>
                        <a:t>Plan attainment not achieved in Apr-25</a:t>
                      </a:r>
                      <a:endParaRPr lang="en-US" altLang="en-IN" sz="135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37185">
                <a:tc>
                  <a:txBody>
                    <a:bodyPr/>
                    <a:p>
                      <a:r>
                        <a:rPr lang="en-US" sz="1500" b="1" dirty="0"/>
                        <a:t>Reason</a:t>
                      </a:r>
                      <a:endParaRPr lang="en-IN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r>
                        <a:rPr lang="en-IN" altLang="en-US" sz="1350" b="1" dirty="0">
                          <a:solidFill>
                            <a:schemeClr val="tx1"/>
                          </a:solidFill>
                        </a:rPr>
                        <a:t>Plan Qty of Danfoss ring was 60000 We dispatched 2800 Qty.</a:t>
                      </a:r>
                      <a:endParaRPr lang="en-IN" altLang="en-US" sz="135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37185">
                <a:tc>
                  <a:txBody>
                    <a:bodyPr/>
                    <a:p>
                      <a:r>
                        <a:rPr lang="en-US" sz="1500" b="1" dirty="0"/>
                        <a:t>Corrective Actions</a:t>
                      </a:r>
                      <a:endParaRPr lang="en-IN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r>
                        <a:rPr lang="en-IN" altLang="en-US" sz="1350" dirty="0"/>
                        <a:t>tooling revised and Quality checks added.</a:t>
                      </a:r>
                      <a:endParaRPr lang="en-IN" altLang="en-US" sz="135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94640" y="728980"/>
          <a:ext cx="11512550" cy="4775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3546158" y="54610"/>
            <a:ext cx="499491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IN" sz="3200" b="1" dirty="0" smtClean="0">
                <a:sym typeface="+mn-ea"/>
              </a:rPr>
              <a:t>Plan Attainment (Qty.)- Shell</a:t>
            </a:r>
            <a:endParaRPr lang="en-US" altLang="en-IN" sz="32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69875" y="728345"/>
          <a:ext cx="11584305" cy="504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9240" y="5610860"/>
          <a:ext cx="1158557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7175"/>
                <a:gridCol w="7518400"/>
              </a:tblGrid>
              <a:tr h="365760">
                <a:tc>
                  <a:txBody>
                    <a:bodyPr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Major Scrap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8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r>
                        <a:rPr lang="en-US" sz="1400" b="1" dirty="0"/>
                        <a:t>Reason for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Scrap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IN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r>
                        <a:rPr lang="en-US" sz="1400" b="1" dirty="0"/>
                        <a:t>Corrective Actions</a:t>
                      </a:r>
                      <a:endParaRPr lang="en-US" sz="1400" b="1" dirty="0"/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IN" sz="18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4043046" y="54610"/>
            <a:ext cx="40011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IN" sz="3200" b="1" dirty="0" smtClean="0">
                <a:sym typeface="+mn-ea"/>
              </a:rPr>
              <a:t>Assembly scrap (PPM) </a:t>
            </a:r>
            <a:endParaRPr lang="en-US" altLang="en-IN" sz="32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69875" y="728345"/>
          <a:ext cx="11584305" cy="4949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9240" y="5593080"/>
          <a:ext cx="1158557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7175"/>
                <a:gridCol w="7518400"/>
              </a:tblGrid>
              <a:tr h="365760">
                <a:tc>
                  <a:txBody>
                    <a:bodyPr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Major Rework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JV2016 size 125 pcs reworked for width o/s &amp; u/s &amp; normal draw lines on OD.</a:t>
                      </a:r>
                      <a:endParaRPr lang="en-IN" sz="18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Reason for Rework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r>
                        <a:rPr lang="en-IN" sz="1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Blank size u/s by 1mm &amp; normal draw lines on OD</a:t>
                      </a:r>
                      <a:endParaRPr lang="en-IN" sz="1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Corrective Actions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r>
                        <a:rPr lang="en-IN" sz="1800" dirty="0"/>
                        <a:t>Blank size increase by 1mm as per past history.</a:t>
                      </a:r>
                      <a:endParaRPr lang="en-IN" sz="18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3845243" y="54610"/>
            <a:ext cx="439674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altLang="en-IN" sz="3200" b="1" dirty="0" smtClean="0">
                <a:sym typeface="+mn-ea"/>
              </a:rPr>
              <a:t>Assembly </a:t>
            </a:r>
            <a:r>
              <a:rPr lang="en-IN" altLang="en-US" sz="3200" b="1" dirty="0" smtClean="0">
                <a:sym typeface="+mn-ea"/>
              </a:rPr>
              <a:t>Rework</a:t>
            </a:r>
            <a:r>
              <a:rPr lang="en-US" altLang="en-IN" sz="3200" b="1" dirty="0" smtClean="0">
                <a:sym typeface="+mn-ea"/>
              </a:rPr>
              <a:t> (PPM) </a:t>
            </a:r>
            <a:endParaRPr lang="en-US" altLang="en-IN" sz="32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88925" y="728980"/>
          <a:ext cx="11510010" cy="446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6220" y="5292725"/>
          <a:ext cx="11643360" cy="1413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7495"/>
                <a:gridCol w="7555865"/>
              </a:tblGrid>
              <a:tr h="471170">
                <a:tc>
                  <a:txBody>
                    <a:bodyPr/>
                    <a:p>
                      <a:r>
                        <a:rPr lang="en-IN" altLang="en-US" sz="2000" b="1" dirty="0">
                          <a:solidFill>
                            <a:schemeClr val="tx1"/>
                          </a:solidFill>
                        </a:rPr>
                        <a:t>Less manday</a:t>
                      </a:r>
                      <a:endParaRPr lang="en-I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8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471170">
                <a:tc>
                  <a:txBody>
                    <a:bodyPr/>
                    <a:p>
                      <a:r>
                        <a:rPr lang="en-US" sz="2000" b="1" dirty="0"/>
                        <a:t>Reason </a:t>
                      </a:r>
                      <a:endParaRPr lang="en-IN" altLang="en-US" sz="2000" b="1" dirty="0"/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IN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471170">
                <a:tc>
                  <a:txBody>
                    <a:bodyPr/>
                    <a:p>
                      <a:r>
                        <a:rPr lang="en-US" sz="2000" b="1" dirty="0"/>
                        <a:t>Corrective Actions</a:t>
                      </a:r>
                      <a:endParaRPr lang="en-IN" sz="2000" b="1" dirty="0"/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IN" sz="18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4210368" y="54610"/>
            <a:ext cx="366649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IN" sz="3200" b="1" dirty="0" smtClean="0">
                <a:sym typeface="+mn-ea"/>
              </a:rPr>
              <a:t>Bearing per manday</a:t>
            </a:r>
            <a:r>
              <a:rPr lang="en-US" altLang="en-IN" sz="3200" b="1" dirty="0" smtClean="0">
                <a:sym typeface="+mn-ea"/>
              </a:rPr>
              <a:t> </a:t>
            </a:r>
            <a:endParaRPr lang="en-US" altLang="en-IN" sz="32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237490" y="728980"/>
          <a:ext cx="11642090" cy="592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990"/>
                <a:gridCol w="9944100"/>
              </a:tblGrid>
              <a:tr h="518160">
                <a:tc gridSpan="2">
                  <a:txBody>
                    <a:bodyPr/>
                    <a:p>
                      <a:pPr indent="0" algn="ctr">
                        <a:buNone/>
                      </a:pPr>
                      <a:endParaRPr lang="en-US" sz="2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Why </a:t>
                      </a:r>
                      <a:r>
                        <a:rPr lang="en-I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1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 ?</a:t>
                      </a:r>
                      <a:endParaRPr lang="en-US" sz="1600" b="1">
                        <a:solidFill>
                          <a:srgbClr val="FF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Ans:-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Why </a:t>
                      </a:r>
                      <a:r>
                        <a:rPr lang="en-I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2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?</a:t>
                      </a:r>
                      <a:endParaRPr lang="en-US" sz="1600" b="1">
                        <a:solidFill>
                          <a:srgbClr val="FF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13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Ans:-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76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Why </a:t>
                      </a:r>
                      <a:r>
                        <a:rPr lang="en-I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3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?</a:t>
                      </a:r>
                      <a:endParaRPr lang="en-US" sz="1600" b="1">
                        <a:solidFill>
                          <a:srgbClr val="FF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564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Ans:-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179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B050"/>
                          </a:solidFill>
                          <a:latin typeface="Calibri" panose="020F0502020204030204" charset="0"/>
                        </a:rPr>
                        <a:t>Action Taken</a:t>
                      </a:r>
                      <a:endParaRPr lang="en-US" sz="1600" b="1">
                        <a:solidFill>
                          <a:srgbClr val="00B05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765"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765"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2972118" y="54610"/>
            <a:ext cx="614299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IN" sz="3200" b="1" dirty="0" smtClean="0">
                <a:sym typeface="+mn-ea"/>
              </a:rPr>
              <a:t>WHY WHY Analysis for Plan Failure</a:t>
            </a:r>
            <a:r>
              <a:rPr lang="en-US" altLang="en-IN" sz="3200" b="1" dirty="0" smtClean="0">
                <a:sym typeface="+mn-ea"/>
              </a:rPr>
              <a:t> </a:t>
            </a:r>
            <a:endParaRPr lang="en-US" altLang="en-IN" sz="32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88290" y="2804160"/>
            <a:ext cx="116154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6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ic Sans MS" panose="030F0702030302020204" charset="0"/>
                <a:cs typeface="Comic Sans MS" panose="030F0702030302020204" charset="0"/>
              </a:rPr>
              <a:t>Roller Division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711624" y="395010"/>
            <a:ext cx="6664057" cy="432048"/>
          </a:xfrm>
        </p:spPr>
        <p:txBody>
          <a:bodyPr>
            <a:normAutofit fontScale="72500" lnSpcReduction="20000"/>
          </a:bodyPr>
          <a:p>
            <a:r>
              <a:rPr lang="en-US" sz="2400" dirty="0" smtClean="0">
                <a:solidFill>
                  <a:srgbClr val="0070C0"/>
                </a:solidFill>
              </a:rPr>
              <a:t> Achievement Towards KPI &amp; Quality Objectives    </a:t>
            </a:r>
            <a:r>
              <a:rPr lang="en-US" dirty="0" smtClean="0">
                <a:solidFill>
                  <a:srgbClr val="0070C0"/>
                </a:solidFill>
              </a:rPr>
              <a:t>                                                               </a:t>
            </a:r>
            <a:r>
              <a:rPr lang="en-US" sz="1100" dirty="0" smtClean="0">
                <a:solidFill>
                  <a:srgbClr val="0070C0"/>
                </a:solidFill>
              </a:rPr>
              <a:t>(Ref Doc Tur/MJA/04 and QM </a:t>
            </a:r>
            <a:r>
              <a:rPr lang="en-US" sz="1100" dirty="0" smtClean="0">
                <a:solidFill>
                  <a:schemeClr val="accent1">
                    <a:lumMod val="75000"/>
                  </a:schemeClr>
                </a:solidFill>
              </a:rPr>
              <a:t>Ref : 9.3)</a:t>
            </a:r>
            <a:endParaRPr lang="en-US" sz="11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0825" y="728980"/>
          <a:ext cx="11629390" cy="5991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25"/>
                <a:gridCol w="3589655"/>
                <a:gridCol w="2414270"/>
                <a:gridCol w="2324735"/>
                <a:gridCol w="2326005"/>
              </a:tblGrid>
              <a:tr h="953135"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 smtClean="0"/>
                        <a:t>Sr.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 smtClean="0"/>
                        <a:t>KPI 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 smtClean="0"/>
                        <a:t>target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 smtClean="0"/>
                        <a:t>Actual</a:t>
                      </a:r>
                      <a:r>
                        <a:rPr lang="en-US" altLang="en-IN" dirty="0" smtClean="0"/>
                        <a:t> Dec-25</a:t>
                      </a:r>
                      <a:endParaRPr lang="en-US" altLang="en-IN" dirty="0" smtClean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 smtClean="0"/>
                        <a:t>status</a:t>
                      </a:r>
                      <a:endParaRPr lang="en-IN" dirty="0"/>
                    </a:p>
                  </a:txBody>
                  <a:tcPr/>
                </a:tc>
              </a:tr>
              <a:tr h="1275080">
                <a:tc>
                  <a:txBody>
                    <a:bodyPr/>
                    <a:p>
                      <a:r>
                        <a:rPr lang="en-US" altLang="en-IN" dirty="0"/>
                        <a:t>1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 smtClean="0"/>
                        <a:t>Plan</a:t>
                      </a:r>
                      <a:r>
                        <a:rPr lang="en-IN" baseline="0" dirty="0" smtClean="0"/>
                        <a:t> Attainment</a:t>
                      </a:r>
                      <a:endParaRPr lang="en-IN" baseline="0" dirty="0" smtClean="0"/>
                    </a:p>
                    <a:p>
                      <a:r>
                        <a:rPr lang="en-IN" baseline="0" dirty="0" smtClean="0"/>
                        <a:t>In % Bearing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en-IN" b="1" dirty="0" smtClean="0">
                          <a:solidFill>
                            <a:schemeClr val="tx1"/>
                          </a:solidFill>
                        </a:rPr>
                        <a:t>95%</a:t>
                      </a:r>
                      <a:endParaRPr lang="en-US" altLang="en-IN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dirty="0"/>
                        <a:t> 81.07 %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endParaRPr lang="en-IN" dirty="0"/>
                    </a:p>
                  </a:txBody>
                  <a:tcPr/>
                </a:tc>
              </a:tr>
              <a:tr h="1276350">
                <a:tc>
                  <a:txBody>
                    <a:bodyPr/>
                    <a:p>
                      <a:r>
                        <a:rPr lang="en-US" altLang="en-IN" dirty="0"/>
                        <a:t>2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 smtClean="0"/>
                        <a:t>Plan</a:t>
                      </a:r>
                      <a:r>
                        <a:rPr lang="en-IN" baseline="0" dirty="0" smtClean="0"/>
                        <a:t> Attainment</a:t>
                      </a:r>
                      <a:endParaRPr lang="en-IN" dirty="0" smtClean="0"/>
                    </a:p>
                    <a:p>
                      <a:r>
                        <a:rPr lang="en-IN" dirty="0" smtClean="0"/>
                        <a:t>In QNTY Bearing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dirty="0" smtClean="0"/>
                        <a:t>328.4</a:t>
                      </a:r>
                      <a:r>
                        <a:rPr lang="en-IN" dirty="0" smtClean="0"/>
                        <a:t> lakhs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dirty="0"/>
                        <a:t>233.87 L</a:t>
                      </a:r>
                      <a:r>
                        <a:rPr lang="en-IN" altLang="en-US" dirty="0"/>
                        <a:t>akhs</a:t>
                      </a:r>
                      <a:endParaRPr lang="en-IN" altLang="en-US" dirty="0"/>
                    </a:p>
                  </a:txBody>
                  <a:tcPr/>
                </a:tc>
                <a:tc>
                  <a:txBody>
                    <a:bodyPr/>
                    <a:p>
                      <a:endParaRPr lang="en-IN" dirty="0"/>
                    </a:p>
                  </a:txBody>
                  <a:tcPr/>
                </a:tc>
              </a:tr>
              <a:tr h="1242695">
                <a:tc>
                  <a:txBody>
                    <a:bodyPr/>
                    <a:p>
                      <a:r>
                        <a:rPr lang="en-US" altLang="en-IN" dirty="0"/>
                        <a:t>3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/>
                        <a:t>Scrap PPM( </a:t>
                      </a:r>
                      <a:r>
                        <a:rPr lang="en-US" altLang="en-IN" dirty="0"/>
                        <a:t>Roller</a:t>
                      </a:r>
                      <a:r>
                        <a:rPr lang="en-IN" dirty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dirty="0"/>
                        <a:t>&lt;10000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dirty="0"/>
                        <a:t>9886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endParaRPr lang="en-IN" dirty="0"/>
                    </a:p>
                  </a:txBody>
                  <a:tcPr/>
                </a:tc>
              </a:tr>
              <a:tr h="1244600">
                <a:tc>
                  <a:txBody>
                    <a:bodyPr/>
                    <a:p>
                      <a:r>
                        <a:rPr lang="en-US" altLang="en-IN" dirty="0"/>
                        <a:t>4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/>
                        <a:t>Rework PPM(</a:t>
                      </a:r>
                      <a:r>
                        <a:rPr lang="en-US" altLang="en-IN" dirty="0"/>
                        <a:t>Roller</a:t>
                      </a:r>
                      <a:r>
                        <a:rPr lang="en-IN" dirty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en-IN" sz="1800" dirty="0">
                          <a:sym typeface="+mn-ea"/>
                        </a:rPr>
                        <a:t>&lt;15000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altLang="en-US" dirty="0"/>
                        <a:t>1</a:t>
                      </a:r>
                      <a:r>
                        <a:rPr lang="en-US" altLang="en-IN" dirty="0"/>
                        <a:t>7546</a:t>
                      </a:r>
                      <a:endParaRPr lang="en-US" altLang="en-IN" dirty="0"/>
                    </a:p>
                  </a:txBody>
                  <a:tcPr/>
                </a:tc>
                <a:tc>
                  <a:txBody>
                    <a:bodyPr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4861560" y="-29210"/>
            <a:ext cx="236410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IN" sz="3200" b="1" dirty="0" smtClean="0">
                <a:sym typeface="+mn-ea"/>
              </a:rPr>
              <a:t>Agenda Shell</a:t>
            </a:r>
            <a:endParaRPr lang="en-IN" sz="3200" b="1" dirty="0" smtClean="0"/>
          </a:p>
        </p:txBody>
      </p:sp>
      <p:sp>
        <p:nvSpPr>
          <p:cNvPr id="14" name="Down Arrow 13"/>
          <p:cNvSpPr/>
          <p:nvPr/>
        </p:nvSpPr>
        <p:spPr>
          <a:xfrm>
            <a:off x="10362565" y="1877695"/>
            <a:ext cx="545465" cy="46164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 rot="10800000">
            <a:off x="10362565" y="3252470"/>
            <a:ext cx="545465" cy="461645"/>
          </a:xfrm>
          <a:prstGeom prst="down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10362565" y="4534535"/>
            <a:ext cx="545465" cy="461645"/>
          </a:xfrm>
          <a:prstGeom prst="downArrow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Down Arrow 16"/>
          <p:cNvSpPr/>
          <p:nvPr/>
        </p:nvSpPr>
        <p:spPr>
          <a:xfrm rot="10800000">
            <a:off x="10362565" y="5894705"/>
            <a:ext cx="545465" cy="46164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06070" y="5826760"/>
          <a:ext cx="1149604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6060"/>
                <a:gridCol w="7459980"/>
              </a:tblGrid>
              <a:tr h="297180">
                <a:tc>
                  <a:txBody>
                    <a:bodyPr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Failure</a:t>
                      </a:r>
                      <a:endParaRPr lang="en-IN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IN" sz="135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r>
                        <a:rPr lang="en-US" sz="1500" b="1" dirty="0"/>
                        <a:t>Reason</a:t>
                      </a:r>
                      <a:endParaRPr lang="en-IN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IN" sz="135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r>
                        <a:rPr lang="en-US" sz="1500" b="1" dirty="0"/>
                        <a:t>Corrective Actions</a:t>
                      </a:r>
                      <a:endParaRPr lang="en-IN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IN" sz="135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290830" y="728980"/>
          <a:ext cx="11510645" cy="5083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3674746" y="125730"/>
            <a:ext cx="47377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IN" sz="3200" b="1" dirty="0" smtClean="0">
                <a:sym typeface="+mn-ea"/>
              </a:rPr>
              <a:t>Plan Attainment (Roller) %</a:t>
            </a:r>
            <a:r>
              <a:rPr lang="en-US" altLang="en-IN" sz="3200" b="1" dirty="0" smtClean="0">
                <a:sym typeface="+mn-ea"/>
              </a:rPr>
              <a:t> </a:t>
            </a:r>
            <a:endParaRPr lang="en-US" altLang="en-IN" sz="32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56285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87655" y="5643880"/>
          <a:ext cx="11592560" cy="1038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715"/>
                <a:gridCol w="7522845"/>
              </a:tblGrid>
              <a:tr h="346075">
                <a:tc>
                  <a:txBody>
                    <a:bodyPr/>
                    <a:p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Failure</a:t>
                      </a:r>
                      <a:endParaRPr lang="en-IN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US" altLang="en-IN" sz="135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46075">
                <a:tc>
                  <a:txBody>
                    <a:bodyPr/>
                    <a:p>
                      <a:r>
                        <a:rPr lang="en-US" sz="1500" b="1" dirty="0"/>
                        <a:t>Reason</a:t>
                      </a:r>
                      <a:endParaRPr lang="en-IN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US" altLang="en-IN" sz="135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46075">
                <a:tc>
                  <a:txBody>
                    <a:bodyPr/>
                    <a:p>
                      <a:r>
                        <a:rPr lang="en-US" sz="1500" b="1" dirty="0"/>
                        <a:t>Corrective Actions</a:t>
                      </a:r>
                      <a:endParaRPr lang="en-IN" sz="1500" b="1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US" altLang="en-IN" sz="135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80035" y="756285"/>
          <a:ext cx="11558905" cy="4819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3475356" y="54610"/>
            <a:ext cx="513651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IN" sz="3200" b="1" dirty="0" smtClean="0">
                <a:sym typeface="+mn-ea"/>
              </a:rPr>
              <a:t>Plan Attainment (Roller) Qty.</a:t>
            </a:r>
            <a:r>
              <a:rPr lang="en-US" altLang="en-IN" sz="3200" b="1" dirty="0" smtClean="0">
                <a:sym typeface="+mn-ea"/>
              </a:rPr>
              <a:t> </a:t>
            </a:r>
            <a:endParaRPr lang="en-US" altLang="en-IN" sz="32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21310" y="728345"/>
          <a:ext cx="11489690" cy="474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490" y="5517515"/>
          <a:ext cx="1164209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860"/>
                <a:gridCol w="7555230"/>
              </a:tblGrid>
              <a:tr h="396240">
                <a:tc>
                  <a:txBody>
                    <a:bodyPr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Major Scrap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8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96240">
                <a:tc>
                  <a:txBody>
                    <a:bodyPr/>
                    <a:p>
                      <a:r>
                        <a:rPr lang="en-US" sz="2000" b="1" dirty="0"/>
                        <a:t>Reason for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Scrap</a:t>
                      </a:r>
                      <a:endParaRPr lang="en-IN" sz="2000" b="1" dirty="0"/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IN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96240">
                <a:tc>
                  <a:txBody>
                    <a:bodyPr/>
                    <a:p>
                      <a:r>
                        <a:rPr lang="en-US" sz="2000" b="1" dirty="0"/>
                        <a:t>Corrective Actions</a:t>
                      </a:r>
                      <a:endParaRPr lang="en-IN" sz="2000" b="1" dirty="0"/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IN" sz="18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4341496" y="54610"/>
            <a:ext cx="34042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IN" sz="3200" b="1" dirty="0" smtClean="0">
                <a:sym typeface="+mn-ea"/>
              </a:rPr>
              <a:t>Scrap (Roller) PPM</a:t>
            </a:r>
            <a:r>
              <a:rPr lang="en-US" altLang="en-IN" sz="3200" b="1" dirty="0" smtClean="0">
                <a:sym typeface="+mn-ea"/>
              </a:rPr>
              <a:t> </a:t>
            </a:r>
            <a:endParaRPr lang="en-US" altLang="en-IN" sz="32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10515" y="728345"/>
          <a:ext cx="11527790" cy="4714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1940" y="5489575"/>
          <a:ext cx="1155636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6380"/>
                <a:gridCol w="7499985"/>
              </a:tblGrid>
              <a:tr h="396240">
                <a:tc>
                  <a:txBody>
                    <a:bodyPr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Major Rework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8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96240">
                <a:tc>
                  <a:txBody>
                    <a:bodyPr/>
                    <a:p>
                      <a:r>
                        <a:rPr lang="en-US" sz="2000" b="1" dirty="0"/>
                        <a:t>Reason for Rework</a:t>
                      </a:r>
                      <a:endParaRPr lang="en-IN" sz="2000" b="1" dirty="0"/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IN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66"/>
                    </a:solidFill>
                  </a:tcPr>
                </a:tc>
              </a:tr>
              <a:tr h="396240">
                <a:tc>
                  <a:txBody>
                    <a:bodyPr/>
                    <a:p>
                      <a:r>
                        <a:rPr lang="en-US" sz="2000" b="1" dirty="0"/>
                        <a:t>Corrective Actions</a:t>
                      </a:r>
                      <a:endParaRPr lang="en-IN" sz="2000" b="1" dirty="0"/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  <a:tc>
                  <a:txBody>
                    <a:bodyPr/>
                    <a:p>
                      <a:endParaRPr lang="en-IN" sz="1800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66"/>
                    </a:solidFill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4158933" y="54610"/>
            <a:ext cx="376936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IN" sz="3200" b="1" dirty="0" smtClean="0">
                <a:sym typeface="+mn-ea"/>
              </a:rPr>
              <a:t>Rework (Roller) PPM</a:t>
            </a:r>
            <a:r>
              <a:rPr lang="en-US" altLang="en-IN" sz="3200" b="1" dirty="0" smtClean="0">
                <a:sym typeface="+mn-ea"/>
              </a:rPr>
              <a:t> </a:t>
            </a:r>
            <a:endParaRPr lang="en-US" altLang="en-IN" sz="32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  <a:p>
            <a:pPr algn="ctr"/>
            <a:endParaRPr lang="en-US" sz="4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248920" y="728980"/>
          <a:ext cx="11630660" cy="602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560"/>
                <a:gridCol w="9944100"/>
              </a:tblGrid>
              <a:tr h="69088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Plan failure in </a:t>
                      </a:r>
                      <a:r>
                        <a:rPr lang="en-IN" altLang="en-US" sz="2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Roller division</a:t>
                      </a:r>
                      <a:endParaRPr lang="en-IN" altLang="en-US" sz="2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Why </a:t>
                      </a:r>
                      <a:r>
                        <a:rPr lang="en-I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1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 ?</a:t>
                      </a:r>
                      <a:endParaRPr lang="en-US" sz="1600" b="1">
                        <a:solidFill>
                          <a:srgbClr val="FF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Plan failure in </a:t>
                      </a:r>
                      <a:r>
                        <a:rPr lang="en-IN" alt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roller division?</a:t>
                      </a:r>
                      <a:endParaRPr lang="en-IN" alt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2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Ans:-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IN" alt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</a:t>
                      </a:r>
                      <a:r>
                        <a:rPr lang="en-US" altLang="en-IN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r>
                        <a:rPr lang="en-IN" alt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CG-0</a:t>
                      </a:r>
                      <a:r>
                        <a:rPr lang="en-US" altLang="en-IN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</a:t>
                      </a:r>
                      <a:r>
                        <a:rPr lang="en-IN" alt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</a:t>
                      </a:r>
                      <a:r>
                        <a:rPr lang="en-US" altLang="en-IN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was </a:t>
                      </a:r>
                      <a:r>
                        <a:rPr lang="en-IN" alt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under maintenance</a:t>
                      </a:r>
                      <a:r>
                        <a:rPr lang="en-US" altLang="en-IN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(3 days)</a:t>
                      </a:r>
                      <a:r>
                        <a:rPr lang="en-IN" alt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. </a:t>
                      </a:r>
                      <a:endParaRPr lang="en-IN" alt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IN" alt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 </a:t>
                      </a:r>
                      <a:r>
                        <a:rPr lang="en-US" alt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2</a:t>
                      </a:r>
                      <a:r>
                        <a:rPr lang="en-IN" altLang="en-US" sz="16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 Operator Leave</a:t>
                      </a:r>
                      <a:r>
                        <a:rPr lang="en-US" alt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 out &amp; operator absentism</a:t>
                      </a:r>
                      <a:r>
                        <a:rPr lang="en-IN" altLang="en-US" sz="1600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.</a:t>
                      </a:r>
                      <a:endParaRPr lang="en-IN" alt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12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Why </a:t>
                      </a:r>
                      <a:r>
                        <a:rPr lang="en-I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2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</a:rPr>
                        <a:t>?</a:t>
                      </a:r>
                      <a:endParaRPr lang="en-US" sz="1600" b="1">
                        <a:solidFill>
                          <a:srgbClr val="FF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IN" alt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1. </a:t>
                      </a:r>
                      <a:r>
                        <a:rPr lang="en-US" altLang="en-IN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Why was </a:t>
                      </a:r>
                      <a:r>
                        <a:rPr lang="en-IN" alt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CG-0</a:t>
                      </a:r>
                      <a:r>
                        <a:rPr lang="en-US" altLang="en-IN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7</a:t>
                      </a:r>
                      <a:r>
                        <a:rPr lang="en-IN" alt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 under maintenance? </a:t>
                      </a:r>
                      <a:endParaRPr lang="en-IN" altLang="en-US" sz="1600" b="1">
                        <a:solidFill>
                          <a:srgbClr val="000000"/>
                        </a:solidFill>
                        <a:latin typeface="Calibri" panose="020F0502020204030204" charset="0"/>
                        <a:sym typeface="+mn-ea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IN" alt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2. </a:t>
                      </a:r>
                      <a:r>
                        <a:rPr lang="en-US" altLang="en-IN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2</a:t>
                      </a:r>
                      <a:r>
                        <a:rPr lang="en-IN" alt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 Operator Leave</a:t>
                      </a:r>
                      <a:r>
                        <a:rPr lang="en-US" altLang="en-IN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 out &amp; absentism?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418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Ans:-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IN" alt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 </a:t>
                      </a:r>
                      <a:r>
                        <a:rPr lang="en-US" altLang="en-IN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RW gearbox shaft key way was worn out</a:t>
                      </a:r>
                      <a:r>
                        <a:rPr lang="en-IN" alt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.</a:t>
                      </a:r>
                      <a:endParaRPr lang="en-IN" alt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IN" alt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 </a:t>
                      </a:r>
                      <a:r>
                        <a:rPr lang="en-US" altLang="en-IN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No trained backup operator was available</a:t>
                      </a:r>
                      <a:r>
                        <a:rPr lang="en-IN" alt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.</a:t>
                      </a:r>
                      <a:endParaRPr lang="en-IN" alt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11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sym typeface="+mn-ea"/>
                        </a:rPr>
                        <a:t>Why 3?</a:t>
                      </a:r>
                      <a:endParaRPr lang="en-US" sz="1600" b="1">
                        <a:solidFill>
                          <a:srgbClr val="00B05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IN" alt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1. </a:t>
                      </a:r>
                      <a:r>
                        <a:rPr lang="en-US" altLang="en-IN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Why did the RW gearbox shaft key wear out?</a:t>
                      </a:r>
                      <a:endParaRPr lang="en-US" altLang="en-IN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Ans:-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en-IN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 Preventive maintanance frequency was not adequate &amp; early wear was not detected.</a:t>
                      </a:r>
                      <a:endParaRPr lang="en-US" altLang="en-IN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sym typeface="+mn-ea"/>
                        </a:rPr>
                        <a:t>Why 4?</a:t>
                      </a:r>
                      <a:endParaRPr lang="en-US" sz="1600" b="1">
                        <a:solidFill>
                          <a:srgbClr val="00B05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IN" alt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1.</a:t>
                      </a:r>
                      <a:r>
                        <a:rPr lang="en-US" altLang="en-IN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 Why was preventive maintance not effective?</a:t>
                      </a:r>
                      <a:endParaRPr lang="en-US" altLang="en-IN" sz="1600" b="1">
                        <a:solidFill>
                          <a:srgbClr val="000000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Ans:-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en-IN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 Critical spare in inspection checklist and monitoring system were not defined.</a:t>
                      </a:r>
                      <a:endParaRPr lang="en-US" altLang="en-IN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sym typeface="+mn-ea"/>
                        </a:rPr>
                        <a:t>Why 5?</a:t>
                      </a:r>
                      <a:endParaRPr lang="en-US" sz="1600" b="1">
                        <a:solidFill>
                          <a:srgbClr val="00B05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IN" alt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1.</a:t>
                      </a:r>
                      <a:r>
                        <a:rPr lang="en-US" altLang="en-IN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sym typeface="+mn-ea"/>
                        </a:rPr>
                        <a:t> Why were checklist &amp; backup manpower not available?</a:t>
                      </a:r>
                      <a:endParaRPr lang="en-US" altLang="en-IN" sz="1600" b="1">
                        <a:solidFill>
                          <a:srgbClr val="000000"/>
                        </a:solidFill>
                        <a:latin typeface="Calibri" panose="020F0502020204030204" charset="0"/>
                        <a:sym typeface="+mn-ea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Ans :-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en-IN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 Because no standard PM checklist for critical psrts and no multi-skill training plan for backup was implemented.</a:t>
                      </a:r>
                      <a:endParaRPr lang="en-US" altLang="en-IN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IN" alt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00B050"/>
                          </a:solidFill>
                          <a:latin typeface="Calibri" panose="020F0502020204030204" charset="0"/>
                        </a:rPr>
                        <a:t>Action Taken</a:t>
                      </a:r>
                      <a:endParaRPr lang="en-US" sz="1600" b="1">
                        <a:solidFill>
                          <a:srgbClr val="00B05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 Critical spare parts arranged and kept in ready stock to avoid downtime.</a:t>
                      </a:r>
                      <a:endParaRPr lang="en-IN" alt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l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 </a:t>
                      </a:r>
                      <a:r>
                        <a:rPr lang="en-US" altLang="en-IN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Inform to HR for requirt new man power for.</a:t>
                      </a:r>
                      <a:endParaRPr lang="en-US" altLang="en-IN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2972118" y="54610"/>
            <a:ext cx="614299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IN" sz="3200" b="1" dirty="0" smtClean="0">
                <a:sym typeface="+mn-ea"/>
              </a:rPr>
              <a:t>WHY WHY Analysis for Plan Failure</a:t>
            </a:r>
            <a:r>
              <a:rPr lang="en-US" altLang="en-IN" sz="3200" b="1" dirty="0" smtClean="0">
                <a:sym typeface="+mn-ea"/>
              </a:rPr>
              <a:t> </a:t>
            </a:r>
            <a:endParaRPr lang="en-US" altLang="en-IN" sz="32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36855" y="728980"/>
            <a:ext cx="11643360" cy="59931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00" b="1" i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omic Sans MS" panose="030F0702030302020204" charset="0"/>
                <a:cs typeface="Comic Sans MS" panose="030F0702030302020204" charset="0"/>
                <a:sym typeface="+mn-ea"/>
              </a:rPr>
              <a:t>THANK YOU...</a:t>
            </a:r>
            <a:endParaRPr lang="en-US" sz="6600" b="1" i="1" dirty="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713" y="170815"/>
            <a:ext cx="972185" cy="43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15*395"/>
  <p:tag name="TABLE_ENDDRAG_RECT" val="19*57*915*39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3001</Words>
  <Application>WPS Presentation</Application>
  <PresentationFormat>Widescreen</PresentationFormat>
  <Paragraphs>344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Comic Sans MS</vt:lpstr>
      <vt:lpstr>Arial Black</vt:lpstr>
      <vt:lpstr>Cambria</vt:lpstr>
      <vt:lpstr>Tahoma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CP 03</cp:lastModifiedBy>
  <cp:revision>41</cp:revision>
  <dcterms:created xsi:type="dcterms:W3CDTF">2025-05-05T08:20:00Z</dcterms:created>
  <dcterms:modified xsi:type="dcterms:W3CDTF">2026-02-01T11:15:16Z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9D419FADB50A417E96A050C91A2FCAC4_12</vt:lpwstr>
  </property>
</Properties>
</file>